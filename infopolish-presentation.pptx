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0" r:id="rId6"/>
    <p:sldId id="259" r:id="rId7"/>
    <p:sldId id="263" r:id="rId8"/>
    <p:sldId id="264" r:id="rId9"/>
    <p:sldId id="265" r:id="rId10"/>
    <p:sldId id="266" r:id="rId11"/>
    <p:sldId id="261" r:id="rId12"/>
    <p:sldId id="267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28" autoAdjust="0"/>
    <p:restoredTop sz="94660"/>
  </p:normalViewPr>
  <p:slideViewPr>
    <p:cSldViewPr snapToGrid="0">
      <p:cViewPr varScale="1">
        <p:scale>
          <a:sx n="84" d="100"/>
          <a:sy n="84" d="100"/>
        </p:scale>
        <p:origin x="4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F1D85-6262-41C8-B22B-0663D0EB1177}" type="datetimeFigureOut">
              <a:rPr lang="en-IN" smtClean="0"/>
              <a:t>22-09-2024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C4E9B-5F4C-4BFE-ADF7-8BB6F9B1C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155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0E8BA-9CD9-3BC5-6E8C-AB5B34084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0990-DA7E-C9AD-72C3-287764A7B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864C9-6E68-44EE-F1EA-3A539E8B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79342-4D56-4E89-BD6C-00DF2302B7CB}" type="datetime1">
              <a:rPr lang="en-IN" smtClean="0"/>
              <a:t>22-09-2024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A82B-F47C-333F-FF19-23DA1CD1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9EC67-C5EB-F703-9BAF-4F828FC50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21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6C979-4C90-A76D-7A65-0C5A5D48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48C7-E654-187E-DDA2-4C2686D8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73166-99FB-4B27-3C6D-12D53A123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C223E-F3C5-4EEA-91A6-292C70B83BA4}" type="datetime1">
              <a:rPr lang="en-IN" smtClean="0"/>
              <a:t>22-09-2024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8DEEB-4ADB-7E04-8D8C-17CA7173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12526-7510-DD67-C632-E8AB8831F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2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F0B6D-AE54-5C44-1F5F-744C8A09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8B3D1-EF94-2088-4CEC-8FF5A0E2A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831B0-64AC-496A-7982-7BB44FC0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5C1A-BF48-4305-87F6-DB047C235A38}" type="datetime1">
              <a:rPr lang="en-IN" smtClean="0"/>
              <a:t>22-09-2024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03A9F-6089-AE15-963B-901A6FF7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6FA26-F533-E8C1-7E43-7E607F43D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063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B7C0-2F10-6565-7371-049CBF7A3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E5D30-4E3F-FFD1-98E6-AC6BED78DC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D834E-4763-06A7-2FC3-FB2EF27B8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5CA48-BCF0-A32F-E3C8-8CEAAD63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6CDB-8DFD-459F-9338-FBBC6EE875B6}" type="datetime1">
              <a:rPr lang="en-IN" smtClean="0"/>
              <a:t>22-09-2024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DBB94-1D1F-DA7B-B41A-9DE4BDA79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A95FE-F960-7AE6-4468-4693F5005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1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26303-9A40-3AC2-3589-DE01E875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13352-7C08-386D-8735-7694D488A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DE8A7-87B1-B177-ECA4-4CB39BA8B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E07490-D0C0-51DD-E22B-26471BCFA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270B0E-61CB-3BF8-7A89-21B6174C7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0CE4D1-154E-7BC5-F5CD-01657C123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0BA93-52B1-4AA4-9F04-2355D8A355E6}" type="datetime1">
              <a:rPr lang="en-IN" smtClean="0"/>
              <a:t>22-09-2024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54E6DB-0C09-56E3-FBEA-24873D444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3A3E19-6F5D-5A91-E3E2-3A6CFEB02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001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E9E0-EC20-6CAB-4D99-BB1490E1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5BB47-848D-BCB0-D270-DD7FC5FE8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EDFA-DDEB-47A6-A1D3-74E588902439}" type="datetime1">
              <a:rPr lang="en-IN" smtClean="0"/>
              <a:t>22-09-2024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AE34CA-4177-65F6-661B-C523B1E2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44876-9C85-2ADD-0E19-8718A65E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737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4B868-C325-517A-1A1D-B571D72E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91BDD-5AA7-443A-94B8-77007D64DB3B}" type="datetime1">
              <a:rPr lang="en-IN" smtClean="0"/>
              <a:t>22-09-2024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867E1-EFD4-8D44-15FA-F2D0A4B93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10798-57A5-A23D-E6C7-FA80E821C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988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0AC19-C054-2ECD-A31D-1BD1F722E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29023-8B01-7867-CB87-A9B123371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034F3-F5FC-5918-D4E0-C6CF212D9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B2C61-E4BE-6017-D06B-0742908E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ED4FD-5FBD-483A-B968-F25665D5309B}" type="datetime1">
              <a:rPr lang="en-IN" smtClean="0"/>
              <a:t>22-09-2024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75271-739B-1C36-AC20-73A3E9C99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5ED73-091D-91D5-68F5-4F492E21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337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7FAB-2E29-A172-98B7-D0E9A332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5EAC68-9A3D-D0C0-44B5-AA4ACC539D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81A6A-CB1C-5E02-9E8D-252E61FBE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89838-00C5-9C7E-182A-6AEDB50AE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DE40-B2F4-47CA-8EC3-C9F3DDAAA681}" type="datetime1">
              <a:rPr lang="en-IN" smtClean="0"/>
              <a:t>22-09-2024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1E72A-424A-9D59-4876-A5BBDA1B3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83F8E-9F9B-744D-694C-2E323C834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29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E8C9-7C85-8C37-27EE-246369AF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6D661-22FD-12ED-6F9A-F607847D4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2709C-F50C-9E7E-DA8F-501A3B664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3EED1-CABD-4CC6-8239-A4528CCC7389}" type="datetime1">
              <a:rPr lang="en-IN" smtClean="0"/>
              <a:t>22-09-2024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7AA66-5C15-F0C7-354C-862D7972D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B8AEE-8F26-2285-2129-D675EED5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36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04BF42-C6EE-9230-9A08-22D915A947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CE9A1-B9F7-3D89-E1BE-282FA8064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0A0A4-002C-C91A-16AF-4C6FF1479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603ED-8865-4E30-99C8-CD094944B94F}" type="datetime1">
              <a:rPr lang="en-IN" smtClean="0"/>
              <a:t>22-09-2024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AA0DE-D36F-7E24-A9EC-519EC020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3EF63-C316-25AE-B9D1-C9C11E41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048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46954-5B60-F820-0F5B-6EAC26D84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DBF9F-315B-70EB-ADB0-9982853A8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55105-B964-A6DE-4DA8-D217DEBBB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87D7B-D4A6-41E7-BD8C-B47252075605}" type="datetime1">
              <a:rPr lang="en-IN" smtClean="0"/>
              <a:t>22-09-2024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EC260-A682-3F3A-D89E-4A57C971E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0700-47C9-0679-334B-F2A07FE0B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18991-E44D-4D44-BC9D-36BF1CE10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98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B11C1EF-667B-8521-56C7-551C9663A085}"/>
              </a:ext>
            </a:extLst>
          </p:cNvPr>
          <p:cNvSpPr/>
          <p:nvPr/>
        </p:nvSpPr>
        <p:spPr>
          <a:xfrm>
            <a:off x="6278880" y="-624840"/>
            <a:ext cx="8199120" cy="8442960"/>
          </a:xfrm>
          <a:prstGeom prst="ellipse">
            <a:avLst/>
          </a:prstGeom>
          <a:noFill/>
          <a:ln w="1270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56EBCB-F364-63CC-C324-5863757398A7}"/>
              </a:ext>
            </a:extLst>
          </p:cNvPr>
          <p:cNvSpPr/>
          <p:nvPr/>
        </p:nvSpPr>
        <p:spPr>
          <a:xfrm>
            <a:off x="7574280" y="1783080"/>
            <a:ext cx="8199120" cy="8442960"/>
          </a:xfrm>
          <a:prstGeom prst="ellipse">
            <a:avLst/>
          </a:prstGeom>
          <a:noFill/>
          <a:ln w="12700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487B8-CACD-DF85-4957-2FF28D9B3FA0}"/>
              </a:ext>
            </a:extLst>
          </p:cNvPr>
          <p:cNvSpPr txBox="1"/>
          <p:nvPr/>
        </p:nvSpPr>
        <p:spPr>
          <a:xfrm>
            <a:off x="364236" y="1025682"/>
            <a:ext cx="5120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infopolish</a:t>
            </a:r>
            <a:endParaRPr lang="en-IN" sz="8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18688A-5E24-FF7D-E7A9-C6A7ADDF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1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04" y="2570416"/>
            <a:ext cx="3968496" cy="396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0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E0249F82-3B44-0669-2733-CD024946E8D7}"/>
              </a:ext>
            </a:extLst>
          </p:cNvPr>
          <p:cNvSpPr/>
          <p:nvPr/>
        </p:nvSpPr>
        <p:spPr>
          <a:xfrm>
            <a:off x="-3977640" y="2056715"/>
            <a:ext cx="8199120" cy="8442960"/>
          </a:xfrm>
          <a:prstGeom prst="ellipse">
            <a:avLst/>
          </a:prstGeom>
          <a:noFill/>
          <a:ln w="1270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ED03C1D-3B30-1F99-A66A-6F381ED2837F}"/>
              </a:ext>
            </a:extLst>
          </p:cNvPr>
          <p:cNvSpPr/>
          <p:nvPr/>
        </p:nvSpPr>
        <p:spPr>
          <a:xfrm>
            <a:off x="-5643562" y="-899845"/>
            <a:ext cx="8199120" cy="8442960"/>
          </a:xfrm>
          <a:prstGeom prst="ellipse">
            <a:avLst/>
          </a:prstGeom>
          <a:noFill/>
          <a:ln w="12700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5376672" y="1225718"/>
            <a:ext cx="6318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Tired of sanitizing data ?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97980" y="2916936"/>
            <a:ext cx="3675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Outsourcing ?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45352" y="4297680"/>
            <a:ext cx="4581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Data Integrity ?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EC4711-5D04-F0B3-F44A-60C25AEF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164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A096E00-DB6A-64F9-F123-4B47945565AA}"/>
              </a:ext>
            </a:extLst>
          </p:cNvPr>
          <p:cNvSpPr/>
          <p:nvPr/>
        </p:nvSpPr>
        <p:spPr>
          <a:xfrm>
            <a:off x="11019978" y="-447140"/>
            <a:ext cx="8199120" cy="8442960"/>
          </a:xfrm>
          <a:prstGeom prst="ellipse">
            <a:avLst/>
          </a:prstGeom>
          <a:noFill/>
          <a:ln w="1270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9585719-94EE-69E2-8D9D-FF9CDFB8640B}"/>
              </a:ext>
            </a:extLst>
          </p:cNvPr>
          <p:cNvSpPr/>
          <p:nvPr/>
        </p:nvSpPr>
        <p:spPr>
          <a:xfrm>
            <a:off x="5024438" y="5689550"/>
            <a:ext cx="8199120" cy="8442960"/>
          </a:xfrm>
          <a:prstGeom prst="ellipse">
            <a:avLst/>
          </a:prstGeom>
          <a:noFill/>
          <a:ln w="12700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0962DA-8B26-E6A9-C0DE-44B3C11A5F52}"/>
              </a:ext>
            </a:extLst>
          </p:cNvPr>
          <p:cNvSpPr txBox="1"/>
          <p:nvPr/>
        </p:nvSpPr>
        <p:spPr>
          <a:xfrm>
            <a:off x="614825" y="642256"/>
            <a:ext cx="4409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Current </a:t>
            </a:r>
            <a:r>
              <a:rPr lang="en-US" sz="5400" dirty="0">
                <a:solidFill>
                  <a:srgbClr val="0070C0"/>
                </a:solidFill>
              </a:rPr>
              <a:t>system</a:t>
            </a:r>
            <a:endParaRPr lang="en-IN" sz="54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2257" y="1856232"/>
            <a:ext cx="4076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Manual</a:t>
            </a:r>
            <a:r>
              <a:rPr lang="en-US" sz="2800" dirty="0">
                <a:solidFill>
                  <a:schemeClr val="bg1"/>
                </a:solidFill>
              </a:rPr>
              <a:t> Data sanitization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2257" y="2670098"/>
            <a:ext cx="4076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Automated</a:t>
            </a:r>
            <a:r>
              <a:rPr lang="en-US" sz="2800" dirty="0">
                <a:solidFill>
                  <a:schemeClr val="bg1"/>
                </a:solidFill>
              </a:rPr>
              <a:t> systems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2257" y="3483964"/>
            <a:ext cx="4076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Computed</a:t>
            </a:r>
            <a:r>
              <a:rPr lang="en-US" sz="2800" dirty="0">
                <a:solidFill>
                  <a:schemeClr val="bg1"/>
                </a:solidFill>
              </a:rPr>
              <a:t> outputs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2257" y="4673887"/>
            <a:ext cx="40760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P</a:t>
            </a:r>
            <a:r>
              <a:rPr lang="en-US" sz="6000" dirty="0">
                <a:solidFill>
                  <a:srgbClr val="FF0000"/>
                </a:solidFill>
              </a:rPr>
              <a:t>robl</a:t>
            </a:r>
            <a:r>
              <a:rPr lang="en-US" sz="6000" dirty="0">
                <a:solidFill>
                  <a:schemeClr val="bg1"/>
                </a:solidFill>
              </a:rPr>
              <a:t>ems ?</a:t>
            </a:r>
            <a:endParaRPr lang="en-IN" sz="6000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 rot="20246367">
            <a:off x="5655144" y="1058331"/>
            <a:ext cx="2486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Accuracy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 rot="902071">
            <a:off x="7261786" y="3463832"/>
            <a:ext cx="1945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Time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 rot="902071">
            <a:off x="5574571" y="2764102"/>
            <a:ext cx="1945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Cost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 rot="20099664">
            <a:off x="8135520" y="1856206"/>
            <a:ext cx="1945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Efficiency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 rot="501155">
            <a:off x="5725544" y="1898395"/>
            <a:ext cx="2486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?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 rot="20665543">
            <a:off x="7403557" y="1295510"/>
            <a:ext cx="2486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?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 rot="20928566">
            <a:off x="5229744" y="3888688"/>
            <a:ext cx="2486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?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 rot="19601887">
            <a:off x="7782592" y="2638647"/>
            <a:ext cx="2486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?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A5FDF-F481-8F19-3C1F-CEDCD9B6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17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7" grpId="0"/>
      <p:bldP spid="18" grpId="0"/>
      <p:bldP spid="19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A096E00-DB6A-64F9-F123-4B47945565AA}"/>
              </a:ext>
            </a:extLst>
          </p:cNvPr>
          <p:cNvSpPr/>
          <p:nvPr/>
        </p:nvSpPr>
        <p:spPr>
          <a:xfrm>
            <a:off x="11019978" y="-447140"/>
            <a:ext cx="8199120" cy="8442960"/>
          </a:xfrm>
          <a:prstGeom prst="ellipse">
            <a:avLst/>
          </a:prstGeom>
          <a:noFill/>
          <a:ln w="1270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9585719-94EE-69E2-8D9D-FF9CDFB8640B}"/>
              </a:ext>
            </a:extLst>
          </p:cNvPr>
          <p:cNvSpPr/>
          <p:nvPr/>
        </p:nvSpPr>
        <p:spPr>
          <a:xfrm>
            <a:off x="5024438" y="5689550"/>
            <a:ext cx="8199120" cy="8442960"/>
          </a:xfrm>
          <a:prstGeom prst="ellipse">
            <a:avLst/>
          </a:prstGeom>
          <a:noFill/>
          <a:ln w="12700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0962DA-8B26-E6A9-C0DE-44B3C11A5F52}"/>
              </a:ext>
            </a:extLst>
          </p:cNvPr>
          <p:cNvSpPr txBox="1"/>
          <p:nvPr/>
        </p:nvSpPr>
        <p:spPr>
          <a:xfrm>
            <a:off x="614825" y="642256"/>
            <a:ext cx="4409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Our </a:t>
            </a:r>
            <a:r>
              <a:rPr lang="en-US" sz="5400" dirty="0">
                <a:solidFill>
                  <a:srgbClr val="0070C0"/>
                </a:solidFill>
              </a:rPr>
              <a:t>system</a:t>
            </a:r>
            <a:endParaRPr lang="en-IN" sz="54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2257" y="1856232"/>
            <a:ext cx="4805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Automated</a:t>
            </a:r>
            <a:r>
              <a:rPr lang="en-US" sz="2800" dirty="0">
                <a:solidFill>
                  <a:schemeClr val="bg1"/>
                </a:solidFill>
              </a:rPr>
              <a:t> Data sanitization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2257" y="2670098"/>
            <a:ext cx="4076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Speeding</a:t>
            </a:r>
            <a:r>
              <a:rPr lang="en-US" sz="2800" dirty="0">
                <a:solidFill>
                  <a:schemeClr val="bg1"/>
                </a:solidFill>
              </a:rPr>
              <a:t> process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2257" y="3483964"/>
            <a:ext cx="4076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Solution to</a:t>
            </a:r>
            <a:r>
              <a:rPr lang="en-US" sz="2800" dirty="0">
                <a:solidFill>
                  <a:schemeClr val="bg1"/>
                </a:solidFill>
              </a:rPr>
              <a:t> companies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2257" y="4673887"/>
            <a:ext cx="40760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 So</a:t>
            </a:r>
            <a:r>
              <a:rPr lang="en-US" sz="6000" dirty="0">
                <a:solidFill>
                  <a:srgbClr val="0070C0"/>
                </a:solidFill>
              </a:rPr>
              <a:t>luti</a:t>
            </a:r>
            <a:r>
              <a:rPr lang="en-US" sz="6000" dirty="0">
                <a:solidFill>
                  <a:schemeClr val="bg1"/>
                </a:solidFill>
              </a:rPr>
              <a:t>on !</a:t>
            </a:r>
            <a:endParaRPr lang="en-IN" sz="6000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 rot="20246367">
            <a:off x="5655144" y="1058331"/>
            <a:ext cx="2486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0070C0"/>
                </a:solidFill>
              </a:rPr>
              <a:t>Accuracy</a:t>
            </a:r>
            <a:endParaRPr lang="en-IN" sz="4400" dirty="0">
              <a:solidFill>
                <a:srgbClr val="0070C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 rot="902071">
            <a:off x="7261786" y="3463832"/>
            <a:ext cx="1945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Time</a:t>
            </a:r>
            <a:endParaRPr lang="en-IN" sz="4000" dirty="0">
              <a:solidFill>
                <a:srgbClr val="0070C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 rot="902071">
            <a:off x="5574571" y="2764102"/>
            <a:ext cx="1945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Cost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 rot="20099664">
            <a:off x="8135520" y="1856206"/>
            <a:ext cx="1945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Efficiency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A5FDF-F481-8F19-3C1F-CEDCD9B6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7" grpId="0"/>
      <p:bldP spid="18" grpId="0"/>
      <p:bldP spid="19" grpId="0"/>
      <p:bldP spid="28" grpId="0"/>
      <p:bldP spid="29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2BB944-0B3F-8538-6BCB-C4ABB809C229}"/>
              </a:ext>
            </a:extLst>
          </p:cNvPr>
          <p:cNvSpPr txBox="1"/>
          <p:nvPr/>
        </p:nvSpPr>
        <p:spPr>
          <a:xfrm>
            <a:off x="3141306" y="335901"/>
            <a:ext cx="5119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System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AEF0D0-4DE7-5A6B-973D-5B0FD7A4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D58E81-CA4A-ECC1-2630-B36D54DAA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804" y="1323767"/>
            <a:ext cx="7772400" cy="475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7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5514" y="3368229"/>
            <a:ext cx="5475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</a:rPr>
              <a:t>Using </a:t>
            </a:r>
            <a:r>
              <a:rPr lang="en-IN" sz="3600" b="1" dirty="0">
                <a:solidFill>
                  <a:srgbClr val="0070C0"/>
                </a:solidFill>
              </a:rPr>
              <a:t>Kaggle</a:t>
            </a:r>
            <a:r>
              <a:rPr lang="en-IN" sz="3600" b="1" dirty="0">
                <a:solidFill>
                  <a:schemeClr val="bg1"/>
                </a:solidFill>
              </a:rPr>
              <a:t> Datasets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7267FF-4345-FB92-DCAD-94C318D3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6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447DA-F9D2-44D0-24F2-A598389A9B6B}"/>
              </a:ext>
            </a:extLst>
          </p:cNvPr>
          <p:cNvSpPr txBox="1"/>
          <p:nvPr/>
        </p:nvSpPr>
        <p:spPr>
          <a:xfrm>
            <a:off x="3847147" y="955923"/>
            <a:ext cx="4716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>
                <a:solidFill>
                  <a:srgbClr val="0070C0"/>
                </a:solidFill>
              </a:rPr>
              <a:t>DataSets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8CAE1-69F7-F99F-1857-011E2FBBAD9C}"/>
              </a:ext>
            </a:extLst>
          </p:cNvPr>
          <p:cNvSpPr txBox="1"/>
          <p:nvPr/>
        </p:nvSpPr>
        <p:spPr>
          <a:xfrm>
            <a:off x="6725919" y="3368228"/>
            <a:ext cx="47167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</a:rPr>
              <a:t>Realistic </a:t>
            </a:r>
            <a:r>
              <a:rPr lang="en-IN" sz="3600" b="1" dirty="0">
                <a:solidFill>
                  <a:srgbClr val="0070C0"/>
                </a:solidFill>
              </a:rPr>
              <a:t>Model Training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87675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23925" y="590549"/>
            <a:ext cx="10601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Security Considerations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3E596-06D1-CE6D-CB06-05C06C4C360E}"/>
              </a:ext>
            </a:extLst>
          </p:cNvPr>
          <p:cNvSpPr txBox="1"/>
          <p:nvPr/>
        </p:nvSpPr>
        <p:spPr>
          <a:xfrm>
            <a:off x="1763485" y="1670178"/>
            <a:ext cx="8929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800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FEF4E-A1FA-BBF0-15CC-80B543CBFEE8}"/>
              </a:ext>
            </a:extLst>
          </p:cNvPr>
          <p:cNvSpPr txBox="1"/>
          <p:nvPr/>
        </p:nvSpPr>
        <p:spPr>
          <a:xfrm>
            <a:off x="2209800" y="1769360"/>
            <a:ext cx="7772400" cy="371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95000"/>
              </a:lnSpc>
              <a:spcAft>
                <a:spcPts val="600"/>
              </a:spcAft>
              <a:buFont typeface="Wingdings" panose="05000000000000000000" pitchFamily="2" charset="2"/>
              <a:buChar char="ü"/>
              <a:tabLst>
                <a:tab pos="182880" algn="l"/>
              </a:tabLst>
            </a:pPr>
            <a:r>
              <a:rPr lang="en-US" sz="2400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Input validation </a:t>
            </a:r>
            <a:r>
              <a:rPr lang="en-US" sz="2400" dirty="0">
                <a:solidFill>
                  <a:schemeClr val="bg2"/>
                </a:solidFill>
                <a:effectLst/>
                <a:ea typeface="Times New Roman" panose="02020603050405020304" pitchFamily="18" charset="0"/>
              </a:rPr>
              <a:t>and String sanitization </a:t>
            </a:r>
          </a:p>
          <a:p>
            <a:pPr marL="342900" indent="-342900" algn="just">
              <a:lnSpc>
                <a:spcPct val="95000"/>
              </a:lnSpc>
              <a:spcAft>
                <a:spcPts val="600"/>
              </a:spcAft>
              <a:buFont typeface="Wingdings" panose="05000000000000000000" pitchFamily="2" charset="2"/>
              <a:buChar char="ü"/>
              <a:tabLst>
                <a:tab pos="182880" algn="l"/>
              </a:tabLst>
            </a:pPr>
            <a:r>
              <a:rPr lang="en-US" sz="2400" dirty="0">
                <a:solidFill>
                  <a:srgbClr val="0070C0"/>
                </a:solidFill>
                <a:ea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rror handling </a:t>
            </a:r>
            <a:r>
              <a:rPr lang="en-US" sz="2400" dirty="0">
                <a:solidFill>
                  <a:schemeClr val="bg2"/>
                </a:solidFill>
                <a:effectLst/>
                <a:ea typeface="Times New Roman" panose="02020603050405020304" pitchFamily="18" charset="0"/>
              </a:rPr>
              <a:t>techniques </a:t>
            </a:r>
          </a:p>
          <a:p>
            <a:pPr marL="342900" indent="-342900" algn="just">
              <a:lnSpc>
                <a:spcPct val="95000"/>
              </a:lnSpc>
              <a:spcAft>
                <a:spcPts val="600"/>
              </a:spcAft>
              <a:buFont typeface="Wingdings" panose="05000000000000000000" pitchFamily="2" charset="2"/>
              <a:buChar char="ü"/>
              <a:tabLst>
                <a:tab pos="182880" algn="l"/>
              </a:tabLst>
            </a:pPr>
            <a:r>
              <a:rPr lang="en-US" sz="2400" dirty="0">
                <a:solidFill>
                  <a:schemeClr val="bg2"/>
                </a:solidFill>
                <a:effectLst/>
                <a:ea typeface="Times New Roman" panose="02020603050405020304" pitchFamily="18" charset="0"/>
              </a:rPr>
              <a:t>AWS SDK</a:t>
            </a:r>
          </a:p>
          <a:p>
            <a:pPr marL="342900" indent="-342900" algn="just">
              <a:lnSpc>
                <a:spcPct val="95000"/>
              </a:lnSpc>
              <a:spcAft>
                <a:spcPts val="600"/>
              </a:spcAft>
              <a:buFont typeface="Wingdings" panose="05000000000000000000" pitchFamily="2" charset="2"/>
              <a:buChar char="ü"/>
              <a:tabLst>
                <a:tab pos="182880" algn="l"/>
              </a:tabLst>
            </a:pPr>
            <a:r>
              <a:rPr lang="en-US" sz="2400" dirty="0">
                <a:solidFill>
                  <a:schemeClr val="bg2"/>
                </a:solidFill>
                <a:effectLst/>
                <a:ea typeface="Times New Roman" panose="02020603050405020304" pitchFamily="18" charset="0"/>
              </a:rPr>
              <a:t>IAM roles </a:t>
            </a:r>
          </a:p>
          <a:p>
            <a:pPr marL="342900" indent="-342900" algn="just">
              <a:lnSpc>
                <a:spcPct val="95000"/>
              </a:lnSpc>
              <a:spcAft>
                <a:spcPts val="600"/>
              </a:spcAft>
              <a:buFont typeface="Wingdings" panose="05000000000000000000" pitchFamily="2" charset="2"/>
              <a:buChar char="ü"/>
              <a:tabLst>
                <a:tab pos="182880" algn="l"/>
              </a:tabLst>
            </a:pPr>
            <a:r>
              <a:rPr lang="en-US" sz="2400" dirty="0">
                <a:solidFill>
                  <a:schemeClr val="bg2"/>
                </a:solidFill>
                <a:effectLst/>
                <a:ea typeface="Times New Roman" panose="02020603050405020304" pitchFamily="18" charset="0"/>
              </a:rPr>
              <a:t>CloudWatch </a:t>
            </a:r>
          </a:p>
          <a:p>
            <a:pPr marL="342900" indent="-342900" algn="just">
              <a:lnSpc>
                <a:spcPct val="95000"/>
              </a:lnSpc>
              <a:spcAft>
                <a:spcPts val="600"/>
              </a:spcAft>
              <a:buFont typeface="Wingdings" panose="05000000000000000000" pitchFamily="2" charset="2"/>
              <a:buChar char="ü"/>
              <a:tabLst>
                <a:tab pos="182880" algn="l"/>
              </a:tabLst>
            </a:pPr>
            <a:r>
              <a:rPr lang="en-US" sz="2400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Penetration testing </a:t>
            </a:r>
            <a:r>
              <a:rPr lang="en-US" sz="2400" dirty="0">
                <a:solidFill>
                  <a:schemeClr val="bg2"/>
                </a:solidFill>
                <a:effectLst/>
                <a:ea typeface="Times New Roman" panose="02020603050405020304" pitchFamily="18" charset="0"/>
              </a:rPr>
              <a:t>is also done which involved "</a:t>
            </a:r>
            <a:r>
              <a:rPr lang="en-US" sz="2400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Whitebox</a:t>
            </a:r>
            <a:r>
              <a:rPr lang="en-US" sz="2400" dirty="0">
                <a:solidFill>
                  <a:schemeClr val="bg2"/>
                </a:solidFill>
                <a:effectLst/>
                <a:ea typeface="Times New Roman" panose="02020603050405020304" pitchFamily="18" charset="0"/>
              </a:rPr>
              <a:t>" testing.</a:t>
            </a:r>
          </a:p>
          <a:p>
            <a:pPr marL="342900" indent="-342900" algn="just">
              <a:lnSpc>
                <a:spcPct val="95000"/>
              </a:lnSpc>
              <a:spcAft>
                <a:spcPts val="600"/>
              </a:spcAft>
              <a:buFont typeface="Wingdings" panose="05000000000000000000" pitchFamily="2" charset="2"/>
              <a:buChar char="ü"/>
              <a:tabLst>
                <a:tab pos="182880" algn="l"/>
              </a:tabLst>
            </a:pPr>
            <a:r>
              <a:rPr lang="en-US" sz="2400" dirty="0">
                <a:solidFill>
                  <a:schemeClr val="bg2"/>
                </a:solidFill>
                <a:effectLst/>
                <a:ea typeface="Times New Roman" panose="02020603050405020304" pitchFamily="18" charset="0"/>
              </a:rPr>
              <a:t> An </a:t>
            </a:r>
            <a:r>
              <a:rPr lang="en-US" sz="2400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crawler detection system </a:t>
            </a:r>
            <a:r>
              <a:rPr lang="en-US" sz="2400" dirty="0">
                <a:solidFill>
                  <a:schemeClr val="bg2"/>
                </a:solidFill>
                <a:effectLst/>
                <a:ea typeface="Times New Roman" panose="02020603050405020304" pitchFamily="18" charset="0"/>
              </a:rPr>
              <a:t>is also installed with the tag "robots.txt“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4DB30-7C0E-CA7B-6C7E-75EADCBC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79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23925" y="590549"/>
            <a:ext cx="10601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Limitations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3E596-06D1-CE6D-CB06-05C06C4C360E}"/>
              </a:ext>
            </a:extLst>
          </p:cNvPr>
          <p:cNvSpPr txBox="1"/>
          <p:nvPr/>
        </p:nvSpPr>
        <p:spPr>
          <a:xfrm>
            <a:off x="1110342" y="2140803"/>
            <a:ext cx="45813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  <a:effectLst/>
                <a:ea typeface="Times New Roman" panose="02020603050405020304" pitchFamily="18" charset="0"/>
              </a:rPr>
              <a:t>It cannot support “Massive Datasets”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bg2"/>
              </a:solidFill>
              <a:ea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  <a:effectLst/>
                <a:ea typeface="Times New Roman" panose="02020603050405020304" pitchFamily="18" charset="0"/>
              </a:rPr>
              <a:t>Cannot handle DDOS attacks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bg2"/>
              </a:solidFill>
              <a:ea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  <a:effectLst/>
                <a:ea typeface="Times New Roman" panose="02020603050405020304" pitchFamily="18" charset="0"/>
              </a:rPr>
              <a:t>Load Balancing is limited to service availability based on cost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34DFCA-0948-84FD-2C75-41F143693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587" y="2141934"/>
            <a:ext cx="4762500" cy="26765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94F6E5-56A1-E63D-086F-5A1EC8C4DD00}"/>
              </a:ext>
            </a:extLst>
          </p:cNvPr>
          <p:cNvSpPr txBox="1"/>
          <p:nvPr/>
        </p:nvSpPr>
        <p:spPr>
          <a:xfrm>
            <a:off x="6597199" y="6540760"/>
            <a:ext cx="56669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</a:rPr>
              <a:t>Pic credit: https://www.eschoolnews.com/district-management/2019/07/01/2-ways-educators-are-using-data-to-solve-problems/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2D2CD-BFDC-6202-8F9E-E7FE5AECD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76C84-85A9-405E-9D94-07AB0CECF3C9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9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23925" y="590549"/>
            <a:ext cx="10601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What works best/worst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3E596-06D1-CE6D-CB06-05C06C4C360E}"/>
              </a:ext>
            </a:extLst>
          </p:cNvPr>
          <p:cNvSpPr txBox="1"/>
          <p:nvPr/>
        </p:nvSpPr>
        <p:spPr>
          <a:xfrm>
            <a:off x="1763485" y="1670178"/>
            <a:ext cx="89293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Strengths</a:t>
            </a:r>
            <a:r>
              <a:rPr lang="en-US" sz="2400" dirty="0">
                <a:solidFill>
                  <a:schemeClr val="bg2"/>
                </a:solidFill>
              </a:rPr>
              <a:t>: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</a:rPr>
              <a:t>Automation</a:t>
            </a:r>
            <a:r>
              <a:rPr lang="en-US" sz="2400" dirty="0">
                <a:solidFill>
                  <a:schemeClr val="bg2"/>
                </a:solidFill>
              </a:rPr>
              <a:t> of Data Preparation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</a:rPr>
              <a:t>Comprehensive </a:t>
            </a:r>
            <a:r>
              <a:rPr lang="en-US" sz="2400" dirty="0">
                <a:solidFill>
                  <a:srgbClr val="0070C0"/>
                </a:solidFill>
              </a:rPr>
              <a:t>approach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</a:rPr>
              <a:t>User Friendly </a:t>
            </a:r>
            <a:r>
              <a:rPr lang="en-US" sz="2400" dirty="0">
                <a:solidFill>
                  <a:schemeClr val="bg2"/>
                </a:solidFill>
              </a:rPr>
              <a:t>Interface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</a:rPr>
              <a:t>Security</a:t>
            </a:r>
            <a:r>
              <a:rPr lang="en-US" sz="2400" dirty="0">
                <a:solidFill>
                  <a:schemeClr val="bg2"/>
                </a:solidFill>
              </a:rPr>
              <a:t> Implementation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</a:rPr>
              <a:t>AWS Integration</a:t>
            </a:r>
            <a:r>
              <a:rPr lang="en-US" sz="2400" dirty="0">
                <a:solidFill>
                  <a:schemeClr val="bg2"/>
                </a:solidFill>
              </a:rPr>
              <a:t>		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2CD98F-F016-AB92-85D2-802C5E609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88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23925" y="590549"/>
            <a:ext cx="10601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What works best/worst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3E596-06D1-CE6D-CB06-05C06C4C360E}"/>
              </a:ext>
            </a:extLst>
          </p:cNvPr>
          <p:cNvSpPr txBox="1"/>
          <p:nvPr/>
        </p:nvSpPr>
        <p:spPr>
          <a:xfrm>
            <a:off x="1759889" y="2274838"/>
            <a:ext cx="89293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Weakness: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</a:rPr>
              <a:t>Dependency</a:t>
            </a:r>
            <a:r>
              <a:rPr lang="en-US" sz="2400" dirty="0">
                <a:solidFill>
                  <a:schemeClr val="bg2"/>
                </a:solidFill>
              </a:rPr>
              <a:t> on User provided Data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</a:rPr>
              <a:t>Limited </a:t>
            </a:r>
            <a:r>
              <a:rPr lang="en-US" sz="2400" dirty="0">
                <a:solidFill>
                  <a:srgbClr val="0070C0"/>
                </a:solidFill>
              </a:rPr>
              <a:t>Scope</a:t>
            </a:r>
            <a:r>
              <a:rPr lang="en-US" sz="2400" dirty="0">
                <a:solidFill>
                  <a:schemeClr val="bg2"/>
                </a:solidFill>
              </a:rPr>
              <a:t> of Models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</a:rPr>
              <a:t>AWS </a:t>
            </a:r>
            <a:r>
              <a:rPr lang="en-US" sz="2400" dirty="0">
                <a:solidFill>
                  <a:srgbClr val="0070C0"/>
                </a:solidFill>
              </a:rPr>
              <a:t>Cost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</a:rPr>
              <a:t>Possible </a:t>
            </a:r>
            <a:r>
              <a:rPr lang="en-US" sz="2400" dirty="0">
                <a:solidFill>
                  <a:srgbClr val="0070C0"/>
                </a:solidFill>
              </a:rPr>
              <a:t>Bottlenecks in Security </a:t>
            </a:r>
            <a:r>
              <a:rPr lang="en-US" sz="2400" dirty="0">
                <a:solidFill>
                  <a:schemeClr val="bg2"/>
                </a:solidFill>
              </a:rPr>
              <a:t>Layers	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CCEDF7-6484-53A5-129A-5243B67CF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28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D9DA8D-5652-6C0D-F781-A9C6744C1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11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5CA88-9F09-C256-341F-07C3E92B33CE}"/>
              </a:ext>
            </a:extLst>
          </p:cNvPr>
          <p:cNvSpPr txBox="1"/>
          <p:nvPr/>
        </p:nvSpPr>
        <p:spPr>
          <a:xfrm>
            <a:off x="2432568" y="2500604"/>
            <a:ext cx="73268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</a:rPr>
              <a:t>Expansion</a:t>
            </a:r>
            <a:r>
              <a:rPr lang="en-US" sz="2400" dirty="0">
                <a:solidFill>
                  <a:schemeClr val="bg2"/>
                </a:solidFill>
              </a:rPr>
              <a:t> of ML models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</a:rPr>
              <a:t>Real-Time</a:t>
            </a:r>
            <a:r>
              <a:rPr lang="en-US" sz="2400" dirty="0">
                <a:solidFill>
                  <a:schemeClr val="bg2"/>
                </a:solidFill>
              </a:rPr>
              <a:t> Data processing</a:t>
            </a:r>
            <a:endParaRPr lang="en-US" sz="2400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</a:rPr>
              <a:t>Enhanced </a:t>
            </a:r>
            <a:r>
              <a:rPr lang="en-US" sz="2400" dirty="0">
                <a:solidFill>
                  <a:srgbClr val="0070C0"/>
                </a:solidFill>
              </a:rPr>
              <a:t>Data cleaning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</a:rPr>
              <a:t>Customization of </a:t>
            </a:r>
            <a:r>
              <a:rPr lang="en-US" sz="2400" dirty="0">
                <a:solidFill>
                  <a:srgbClr val="0070C0"/>
                </a:solidFill>
              </a:rPr>
              <a:t>feature engineering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</a:rPr>
              <a:t>Enhanced </a:t>
            </a:r>
            <a:r>
              <a:rPr lang="en-US" sz="2400" dirty="0">
                <a:solidFill>
                  <a:srgbClr val="0070C0"/>
                </a:solidFill>
              </a:rPr>
              <a:t>Security implementation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/>
                </a:solidFill>
              </a:rPr>
              <a:t>Integration with </a:t>
            </a:r>
            <a:r>
              <a:rPr lang="en-US" sz="2400" dirty="0">
                <a:solidFill>
                  <a:srgbClr val="0070C0"/>
                </a:solidFill>
              </a:rPr>
              <a:t>Data visualization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</a:rPr>
              <a:t>AI assisted</a:t>
            </a:r>
            <a:r>
              <a:rPr lang="en-US" sz="2400" dirty="0">
                <a:solidFill>
                  <a:schemeClr val="bg2"/>
                </a:solidFill>
              </a:rPr>
              <a:t> Decision making on Models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2BDC42-59EB-C758-471B-26E0287A5F51}"/>
              </a:ext>
            </a:extLst>
          </p:cNvPr>
          <p:cNvSpPr txBox="1"/>
          <p:nvPr/>
        </p:nvSpPr>
        <p:spPr>
          <a:xfrm>
            <a:off x="2656892" y="859657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267356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91F534-A7C3-7168-0F51-D1B4EFB6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12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368FE-9418-2986-9517-456669F9EFB4}"/>
              </a:ext>
            </a:extLst>
          </p:cNvPr>
          <p:cNvSpPr txBox="1"/>
          <p:nvPr/>
        </p:nvSpPr>
        <p:spPr>
          <a:xfrm>
            <a:off x="3609974" y="628651"/>
            <a:ext cx="497205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Team Members</a:t>
            </a:r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8D180-8E7F-3915-AA20-AFC9B09CD36B}"/>
              </a:ext>
            </a:extLst>
          </p:cNvPr>
          <p:cNvSpPr txBox="1"/>
          <p:nvPr/>
        </p:nvSpPr>
        <p:spPr>
          <a:xfrm>
            <a:off x="2214986" y="2274838"/>
            <a:ext cx="91388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400" dirty="0" err="1">
                <a:solidFill>
                  <a:schemeClr val="bg1"/>
                </a:solidFill>
              </a:rPr>
              <a:t>Geyasri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Vagdevi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en-US" sz="2400" dirty="0">
                <a:solidFill>
                  <a:srgbClr val="0070C0"/>
                </a:solidFill>
              </a:rPr>
              <a:t>Frontend 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Joe Newman Jaya Thomas – Testing and </a:t>
            </a:r>
            <a:r>
              <a:rPr lang="en-US" sz="2400" dirty="0">
                <a:solidFill>
                  <a:srgbClr val="0070C0"/>
                </a:solidFill>
              </a:rPr>
              <a:t>Report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Rahul </a:t>
            </a:r>
            <a:r>
              <a:rPr lang="en-US" sz="2400" dirty="0" err="1">
                <a:solidFill>
                  <a:schemeClr val="bg1"/>
                </a:solidFill>
              </a:rPr>
              <a:t>Chakali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en-US" sz="2400" dirty="0">
                <a:solidFill>
                  <a:srgbClr val="0070C0"/>
                </a:solidFill>
              </a:rPr>
              <a:t>Backend</a:t>
            </a:r>
            <a:r>
              <a:rPr lang="en-US" sz="2400" dirty="0">
                <a:solidFill>
                  <a:schemeClr val="bg1"/>
                </a:solidFill>
              </a:rPr>
              <a:t> and Model development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 err="1">
                <a:solidFill>
                  <a:schemeClr val="bg1"/>
                </a:solidFill>
              </a:rPr>
              <a:t>Soundirya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Murugan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en-US" sz="2400" dirty="0">
                <a:solidFill>
                  <a:srgbClr val="0070C0"/>
                </a:solidFill>
              </a:rPr>
              <a:t>Testing</a:t>
            </a:r>
            <a:r>
              <a:rPr lang="en-US" sz="2400" dirty="0">
                <a:solidFill>
                  <a:schemeClr val="bg1"/>
                </a:solidFill>
              </a:rPr>
              <a:t> and Report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Sreeja </a:t>
            </a:r>
            <a:r>
              <a:rPr lang="en-US" sz="2400" dirty="0" err="1">
                <a:solidFill>
                  <a:schemeClr val="bg1"/>
                </a:solidFill>
              </a:rPr>
              <a:t>Ajithkumar</a:t>
            </a:r>
            <a:r>
              <a:rPr lang="en-US" sz="2400" dirty="0">
                <a:solidFill>
                  <a:schemeClr val="bg1"/>
                </a:solidFill>
              </a:rPr>
              <a:t> – Frontend and </a:t>
            </a:r>
            <a:r>
              <a:rPr lang="en-US" sz="2400" dirty="0">
                <a:solidFill>
                  <a:srgbClr val="0070C0"/>
                </a:solidFill>
              </a:rPr>
              <a:t>Integration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 err="1">
                <a:solidFill>
                  <a:schemeClr val="bg1"/>
                </a:solidFill>
              </a:rPr>
              <a:t>Venakatasubramanian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Sanakaranarayanan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en-US" sz="2400" dirty="0" err="1">
                <a:solidFill>
                  <a:srgbClr val="0070C0"/>
                </a:solidFill>
              </a:rPr>
              <a:t>Devops</a:t>
            </a:r>
            <a:r>
              <a:rPr lang="en-US" sz="2400" dirty="0">
                <a:solidFill>
                  <a:schemeClr val="bg1"/>
                </a:solidFill>
              </a:rPr>
              <a:t> and Backend</a:t>
            </a:r>
          </a:p>
        </p:txBody>
      </p:sp>
    </p:spTree>
    <p:extLst>
      <p:ext uri="{BB962C8B-B14F-4D97-AF65-F5344CB8AC3E}">
        <p14:creationId xmlns:p14="http://schemas.microsoft.com/office/powerpoint/2010/main" val="2651386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268332-BBD1-07FE-32A1-B7B090B768D5}"/>
              </a:ext>
            </a:extLst>
          </p:cNvPr>
          <p:cNvSpPr txBox="1"/>
          <p:nvPr/>
        </p:nvSpPr>
        <p:spPr>
          <a:xfrm>
            <a:off x="2639786" y="2613392"/>
            <a:ext cx="69124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dirty="0">
                <a:solidFill>
                  <a:schemeClr val="accent1"/>
                </a:solidFill>
              </a:rPr>
              <a:t>Q</a:t>
            </a:r>
            <a:r>
              <a:rPr lang="en-US" sz="10000" dirty="0">
                <a:solidFill>
                  <a:schemeClr val="bg1"/>
                </a:solidFill>
              </a:rPr>
              <a:t>uestions ??</a:t>
            </a:r>
            <a:endParaRPr lang="en-IN" sz="100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F3112C-586F-9522-A7E7-DACE5242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18991-E44D-4D44-BC9D-36BF1CE1049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99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251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Microsoft YaHei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venkata subramanian</dc:creator>
  <cp:lastModifiedBy>venkata subramanian</cp:lastModifiedBy>
  <cp:revision>35</cp:revision>
  <dcterms:created xsi:type="dcterms:W3CDTF">2023-11-30T05:50:10Z</dcterms:created>
  <dcterms:modified xsi:type="dcterms:W3CDTF">2024-09-22T00:25:26Z</dcterms:modified>
</cp:coreProperties>
</file>